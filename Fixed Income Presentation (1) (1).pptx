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2FEA9-2C87-4DB3-A7CE-F53BE8437ABB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7FCF9-A0C6-4D05-8B93-863A45523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89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7FCF9-A0C6-4D05-8B93-863A455239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25.png"/><Relationship Id="rId17" Type="http://schemas.openxmlformats.org/officeDocument/2006/relationships/image" Target="../media/image47.png"/><Relationship Id="rId2" Type="http://schemas.openxmlformats.org/officeDocument/2006/relationships/image" Target="../media/image33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A6F9D715-EB49-BABE-07C0-17065B692E99}"/>
              </a:ext>
            </a:extLst>
          </p:cNvPr>
          <p:cNvSpPr/>
          <p:nvPr/>
        </p:nvSpPr>
        <p:spPr>
          <a:xfrm>
            <a:off x="358232" y="3319462"/>
            <a:ext cx="2756919" cy="1833563"/>
          </a:xfrm>
          <a:prstGeom prst="flowChartAlternateProcess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72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624012"/>
            <a:ext cx="3269009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319462"/>
            <a:ext cx="2657475" cy="1914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3319462"/>
            <a:ext cx="2657475" cy="1914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3319462"/>
            <a:ext cx="2657475" cy="1914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2081212"/>
            <a:ext cx="6055756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0" i="0" u="none">
                <a:solidFill>
                  <a:srgbClr val="0F172A"/>
                </a:solidFill>
                <a:latin typeface="Poppins ExtraBold"/>
              </a:rPr>
              <a:t>Fixed Income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875" y="2743200"/>
            <a:ext cx="721995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An overview of debt securities, core features, and fundamental valuation mechanics.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208" y="1719694"/>
            <a:ext cx="135284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3567112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4850" y="4100512"/>
            <a:ext cx="241030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Poppins"/>
              </a:rPr>
              <a:t>Face Value (Par)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414837"/>
            <a:ext cx="22955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principal amount repaid to the bondholder at maturity (e.g., $1,000).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775" y="3567112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33775" y="4100512"/>
            <a:ext cx="241030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oppins"/>
              </a:rPr>
              <a:t>Coupon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3775" y="4414837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Fixed annual interest percentage paid periodically by the issuer.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3567112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62700" y="4100512"/>
            <a:ext cx="241030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Poppins"/>
              </a:rPr>
              <a:t>Maturity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700" y="4414837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specific date when the principal investment must be fully repaid.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5" y="3567112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91625" y="4100512"/>
            <a:ext cx="241030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B21A8"/>
                </a:solidFill>
                <a:latin typeface="Poppins"/>
              </a:rPr>
              <a:t>Issuer 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1625" y="4414837"/>
            <a:ext cx="22955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Governments or corporations issuing debt to raise capital.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3690937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76650" y="3690937"/>
            <a:ext cx="1333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6050" y="3690937"/>
            <a:ext cx="15240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15450" y="3690937"/>
            <a:ext cx="171450" cy="171450"/>
          </a:xfrm>
          <a:prstGeom prst="rect">
            <a:avLst/>
          </a:prstGeom>
        </p:spPr>
      </p:pic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A854A51E-6946-DF50-948D-167CD754E1B2}"/>
              </a:ext>
            </a:extLst>
          </p:cNvPr>
          <p:cNvSpPr/>
          <p:nvPr/>
        </p:nvSpPr>
        <p:spPr>
          <a:xfrm>
            <a:off x="409319" y="3400422"/>
            <a:ext cx="2800605" cy="1833563"/>
          </a:xfrm>
          <a:prstGeom prst="flowChartAlternateProcess">
            <a:avLst/>
          </a:prstGeom>
          <a:noFill/>
          <a:ln w="180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14537"/>
            <a:ext cx="3587650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2014537"/>
            <a:ext cx="3587799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325" y="2014537"/>
            <a:ext cx="3587650" cy="1590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795712"/>
            <a:ext cx="3587650" cy="1790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025" y="3795712"/>
            <a:ext cx="3587799" cy="1790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0325" y="3795712"/>
            <a:ext cx="3587650" cy="1790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2243137"/>
            <a:ext cx="36195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2700337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47857"/>
                </a:solidFill>
                <a:latin typeface="Poppins"/>
              </a:rPr>
              <a:t>Government / Treasury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005137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Backed by sovereign guarantees. Considered low-risk with baseline yields (e.g., US Treasuries).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2050" y="2243137"/>
            <a:ext cx="361950" cy="36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2050" y="2700337"/>
            <a:ext cx="33471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4ED8"/>
                </a:solidFill>
                <a:latin typeface="Poppins"/>
              </a:rPr>
              <a:t>Corporate Bonds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2050" y="3005137"/>
            <a:ext cx="31877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Issued by businesses. Yield corresponds to credit rating (Investment Grade vs High Yield).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0350" y="2243137"/>
            <a:ext cx="36195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0350" y="2700337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45309"/>
                </a:solidFill>
                <a:latin typeface="Poppins"/>
              </a:rPr>
              <a:t>Zero-Coupon Bonds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350" y="3005137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Issued at a discount with no periodic interest payments. Full par value repaid at maturity.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4024312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3900" y="4481512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6B21A8"/>
                </a:solidFill>
                <a:latin typeface="Poppins"/>
              </a:rPr>
              <a:t>Convertible Bonds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786312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Hybrid debt allowing investors to convert bonds into a predetermined number of equity shares.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2050" y="4024312"/>
            <a:ext cx="361950" cy="361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2050" y="4481512"/>
            <a:ext cx="33471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oppins"/>
              </a:rPr>
              <a:t>Floating-Rate 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2050" y="4786312"/>
            <a:ext cx="31877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Interest rates adjust periodically based on benchmark market indices (e.g., SOFR or EURIBOR).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0350" y="4024312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0350" y="4481512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E123C"/>
                </a:solidFill>
                <a:latin typeface="Poppins"/>
              </a:rPr>
              <a:t>Municipal Bonds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350" y="4786312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Issued by local governments or states for infrastructure projects, often tax-exempt.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75" y="2347912"/>
            <a:ext cx="1524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87775" y="2347912"/>
            <a:ext cx="1905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5125" y="2347912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200" y="4129087"/>
            <a:ext cx="1333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6825" y="4129087"/>
            <a:ext cx="1524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5125" y="4129087"/>
            <a:ext cx="1524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3875" y="428625"/>
            <a:ext cx="1166812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Major Categories of Bonds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" y="942975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937858"/>
            <a:ext cx="3587650" cy="17673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025" y="1937858"/>
            <a:ext cx="3587799" cy="17673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325" y="1937858"/>
            <a:ext cx="3587650" cy="176736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95725"/>
            <a:ext cx="3587650" cy="18675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025" y="3895725"/>
            <a:ext cx="3587799" cy="18675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325" y="3895725"/>
            <a:ext cx="3587650" cy="1590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343150"/>
            <a:ext cx="36195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2800350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47857"/>
                </a:solidFill>
                <a:latin typeface="Poppins"/>
              </a:rPr>
              <a:t>Fixed-Rate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105150"/>
            <a:ext cx="3187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Constant interest rate paid throughout life of bond.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2050" y="2343150"/>
            <a:ext cx="361950" cy="36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2050" y="2800350"/>
            <a:ext cx="33471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4ED8"/>
                </a:solidFill>
                <a:latin typeface="Poppins"/>
              </a:rPr>
              <a:t>Floating-Rate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2050" y="3105150"/>
            <a:ext cx="31877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Resets periodically with reference benchmark (e.g., SOFR).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0350" y="2343150"/>
            <a:ext cx="361950" cy="3619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80350" y="2800350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45309"/>
                </a:solidFill>
                <a:latin typeface="Poppins"/>
              </a:rPr>
              <a:t>Zero-Coupon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350" y="3105150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No periodic payouts; sold at deep discount to par value.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4124325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3900" y="4581525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6B21A8"/>
                </a:solidFill>
                <a:latin typeface="Poppins"/>
              </a:rPr>
              <a:t>Step-Up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886325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Coupon rate increases on predetermined future dates.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2050" y="4124325"/>
            <a:ext cx="361950" cy="3619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2050" y="4581525"/>
            <a:ext cx="334713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369A1"/>
                </a:solidFill>
                <a:latin typeface="Poppins"/>
              </a:rPr>
              <a:t>Inflation-Linked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2050" y="4886325"/>
            <a:ext cx="31877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Coupon or principal adjusts directly with inflation index.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0350" y="4124325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0350" y="4581525"/>
            <a:ext cx="334698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E123C"/>
                </a:solidFill>
                <a:latin typeface="Poppins"/>
              </a:rPr>
              <a:t>Deferred / PIK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350" y="4886325"/>
            <a:ext cx="3187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Interest accrues or pays in extra bonds instead of cash.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2447925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6825" y="2447925"/>
            <a:ext cx="15240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5125" y="2447925"/>
            <a:ext cx="15240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150" y="4229100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7300" y="4229100"/>
            <a:ext cx="17145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4175" y="4229100"/>
            <a:ext cx="114300" cy="1524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23875" y="428625"/>
            <a:ext cx="1166812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 dirty="0">
                <a:solidFill>
                  <a:srgbClr val="0F172A"/>
                </a:solidFill>
                <a:latin typeface="Poppins"/>
              </a:rPr>
              <a:t>Forms of Coupon 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875" y="942975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105025"/>
            <a:ext cx="5143500" cy="1295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514725"/>
            <a:ext cx="514350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924425"/>
            <a:ext cx="5143500" cy="129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638175"/>
            <a:ext cx="5400675" cy="800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Yield to Maturity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533525"/>
            <a:ext cx="5143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Yield to Maturity (YTM)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represents the total expected annualized return if the bond is held until its term expires.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2295525"/>
            <a:ext cx="94297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2524125"/>
            <a:ext cx="494061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6B21A8"/>
                </a:solidFill>
                <a:latin typeface="Poppins"/>
              </a:rPr>
              <a:t>Held Until Maturity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2838450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 investor holds the bond security continuously until the final maturity date without early sale.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3705225"/>
            <a:ext cx="962025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3933825"/>
            <a:ext cx="494061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47857"/>
                </a:solidFill>
                <a:latin typeface="Poppins"/>
              </a:rPr>
              <a:t>Zero Default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4375" y="4248150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All scheduled coupon payments and principal repayment are made in full on exact scheduled dates.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5114925"/>
            <a:ext cx="962025" cy="171450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A440195B-87AF-678D-A26C-62FECDA1AC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5343525"/>
            <a:ext cx="4940617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E123C"/>
                </a:solidFill>
                <a:latin typeface="Poppins"/>
              </a:rPr>
              <a:t>Constant Reinvestment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5657850"/>
            <a:ext cx="4705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All periodic coupon income is immediately reinvested at an interest rate equal to the YTM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429125"/>
            <a:ext cx="11144250" cy="809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362200"/>
            <a:ext cx="3587650" cy="1876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362200"/>
            <a:ext cx="3587799" cy="1876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362200"/>
            <a:ext cx="3587650" cy="1876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133725"/>
            <a:ext cx="3206650" cy="36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525" y="3133725"/>
            <a:ext cx="3206799" cy="361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0825" y="3133725"/>
            <a:ext cx="3206650" cy="3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2590800"/>
            <a:ext cx="3206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B91C1C"/>
                </a:solidFill>
                <a:latin typeface="Inter"/>
              </a:rPr>
              <a:t>Trading at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2847975"/>
            <a:ext cx="3206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 SemiBold"/>
              </a:rPr>
              <a:t>Price &lt; Par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609975"/>
            <a:ext cx="3206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Required market yield exceeds coupon rate. Price falls below face value to offer higher return.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2525" y="2590800"/>
            <a:ext cx="3206799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369A1"/>
                </a:solidFill>
                <a:latin typeface="Inter"/>
              </a:rPr>
              <a:t>Trading at Par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2525" y="2847975"/>
            <a:ext cx="320679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 SemiBold"/>
              </a:rPr>
              <a:t>Price = Par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2525" y="3609975"/>
            <a:ext cx="32067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Bond coupon equals prevailing market interest rate. Price matches exact face value ($1,000).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0825" y="2590800"/>
            <a:ext cx="32066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25" b="1" i="0" u="none">
                <a:solidFill>
                  <a:srgbClr val="047857"/>
                </a:solidFill>
                <a:latin typeface="Inter"/>
              </a:rPr>
              <a:t>Trading at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0825" y="2847975"/>
            <a:ext cx="3206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 SemiBold"/>
              </a:rPr>
              <a:t>Price &gt; Par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0825" y="3609975"/>
            <a:ext cx="3206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Coupon rate exceeds prevailing market rates. Investors pay a premium above face value.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9240" y="4591050"/>
            <a:ext cx="276225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74402" y="4876800"/>
            <a:ext cx="14859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Market Yield Increases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5108" y="4729162"/>
            <a:ext cx="209550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19463" y="4612481"/>
            <a:ext cx="32194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D97706"/>
                </a:solidFill>
                <a:latin typeface="Inter ExtraBold"/>
              </a:rPr>
              <a:t>INVERSE RELATIONSHIP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9463" y="4869656"/>
            <a:ext cx="32194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Bond Price &amp; Market Yield move in opposite directions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3719" y="4729162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9574" y="4591050"/>
            <a:ext cx="276225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98074" y="4876800"/>
            <a:ext cx="14192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Bond Price Decreases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875" y="428625"/>
            <a:ext cx="1166812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Coupon vs Yield Relationship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875" y="942975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09812"/>
            <a:ext cx="5419725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31343"/>
            <a:ext cx="5419725" cy="8206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104382"/>
            <a:ext cx="5419725" cy="5652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2778918"/>
            <a:ext cx="569071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338CA"/>
                </a:solidFill>
                <a:latin typeface="Poppins"/>
              </a:rPr>
              <a:t>Present Value &amp; Yield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528887"/>
            <a:ext cx="5150643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B45309"/>
                </a:solidFill>
                <a:latin typeface="Poppins"/>
              </a:rPr>
              <a:t>Calculation Example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537" y="3331368"/>
            <a:ext cx="2184499" cy="4205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352" y="4228207"/>
            <a:ext cx="1146720" cy="31759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576512"/>
            <a:ext cx="1333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91325" y="2900362"/>
            <a:ext cx="4638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Par Value (F):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$1,000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1325" y="3195637"/>
            <a:ext cx="4638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Annual Coupon (C):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6% = $60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1325" y="3490912"/>
            <a:ext cx="4638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Maturity (n):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5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3786187"/>
            <a:ext cx="46386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334155"/>
                </a:solidFill>
                <a:latin typeface="Inter"/>
              </a:rPr>
              <a:t>Current Market Price (P):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$950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4625" y="4100512"/>
            <a:ext cx="4905375" cy="876300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8925" y="4214812"/>
            <a:ext cx="467677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D4ED8"/>
                </a:solidFill>
                <a:latin typeface="Inter"/>
              </a:rPr>
              <a:t>Estimated YTM Calculation: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YTM ≈ [60 + (1000 - 950)/5] / [(1000 + 950)/2]</a:t>
            </a:r>
            <a:r>
              <a:t>
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YTM ≈ [60 + 10] / 975 = </a:t>
            </a:r>
            <a:r>
              <a:rPr sz="1050" b="1" i="0" u="none">
                <a:solidFill>
                  <a:srgbClr val="047857"/>
                </a:solidFill>
                <a:latin typeface="Inter"/>
              </a:rPr>
              <a:t>7.18%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24625" y="4967287"/>
            <a:ext cx="4905375" cy="9525"/>
          </a:xfrm>
          <a:prstGeom prst="rect">
            <a:avLst/>
          </a:prstGeom>
          <a:solidFill>
            <a:srgbClr val="FC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2924175"/>
            <a:ext cx="13335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219450"/>
            <a:ext cx="13335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514725"/>
            <a:ext cx="13335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810000"/>
            <a:ext cx="133350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3875" y="428625"/>
            <a:ext cx="11668125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oppins"/>
              </a:rPr>
              <a:t>Bond Pricing Formula &amp; YTM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942975"/>
            <a:ext cx="1114425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5487" y="2455068"/>
            <a:ext cx="82010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0750" y="3359943"/>
            <a:ext cx="7810500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475569"/>
                </a:solidFill>
                <a:latin typeface="Inter"/>
              </a:rPr>
              <a:t>Fixed Income Securities | Bond Valuation &amp; Yield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9526" y="4079080"/>
            <a:ext cx="2124075" cy="173124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ctr"/>
            <a:r>
              <a:rPr lang="en-US" sz="1125" b="0" i="0" u="none" dirty="0">
                <a:solidFill>
                  <a:srgbClr val="334155"/>
                </a:solidFill>
                <a:latin typeface="Inter SemiBold"/>
              </a:rPr>
              <a:t>shedgevaishnavi7@gmail.com</a:t>
            </a:r>
            <a:endParaRPr sz="1125" b="0" i="0" u="none" dirty="0">
              <a:solidFill>
                <a:srgbClr val="334155"/>
              </a:solidFill>
              <a:latin typeface="Inter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1" y="4067882"/>
            <a:ext cx="2009775" cy="173124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ctr"/>
            <a:r>
              <a:rPr lang="en-US" sz="1125" b="0" i="0" u="none" dirty="0">
                <a:solidFill>
                  <a:srgbClr val="334155"/>
                </a:solidFill>
                <a:latin typeface="Inter SemiBold"/>
              </a:rPr>
              <a:t>www.itvedant.com</a:t>
            </a:r>
            <a:endParaRPr sz="1125" b="0" i="0" u="none" dirty="0">
              <a:solidFill>
                <a:srgbClr val="334155"/>
              </a:solidFill>
              <a:latin typeface="Inter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825" y="4098131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098131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543</Words>
  <Application>Microsoft Office PowerPoint</Application>
  <PresentationFormat>Widescreen</PresentationFormat>
  <Paragraphs>71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Arial</vt:lpstr>
      <vt:lpstr>Calibri</vt:lpstr>
      <vt:lpstr>Inter</vt:lpstr>
      <vt:lpstr>Inter ExtraBold</vt:lpstr>
      <vt:lpstr>Inter SemiBold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Shedge</cp:lastModifiedBy>
  <cp:revision>3</cp:revision>
  <dcterms:created xsi:type="dcterms:W3CDTF">2013-01-27T09:14:16Z</dcterms:created>
  <dcterms:modified xsi:type="dcterms:W3CDTF">2026-07-25T08:03:00Z</dcterms:modified>
  <cp:category/>
</cp:coreProperties>
</file>